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"/>
            <a:ext cx="12191695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HISTORIA DE 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5FF"/>
                </a:solidFill>
                <a:latin typeface="Segoe UI"/>
              </a:defRPr>
            </a:pPr>
            <a:r>
              <a:t>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Segoe UI Light"/>
              </a:defRPr>
            </a:pPr>
            <a:r>
              <a:t>De los precursores a las grandes empresas del siglo XXI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749039"/>
            <a:ext cx="4876495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Segoe UI Light"/>
              </a:defRPr>
            </a:pPr>
            <a:r>
              <a:t>Presentación Premium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44"/>
                </a:solidFill>
                <a:latin typeface="Segoe UI Light"/>
              </a:defRPr>
            </a:pPr>
            <a:r>
              <a:t>Generado por JARVIS · Agente NEO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30568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E5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¿Qué es la Inteligencia Artificial?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8483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848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Los Precursores: Turing, McCarthy, Minsky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2374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B59B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2374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La Conferencia de Dartmouth 1956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6265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Primeros Pasos (1950s-1960s)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0156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FF1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0156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El Primer Invierno de la IA (1970s)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E5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Sistemas Expertos y Resurgimiento (1980s)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793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793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Deep Blue y los 90s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1830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B59B6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Big Data y Machine Learning (2000s)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15721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La Revolución del Deep Learning (2010s)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96128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FF1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5961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Grandes Empresas de IA y sus CEOs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035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E5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Segoe UI Light"/>
              </a:defRPr>
            </a:pPr>
            <a:r>
              <a:t>El Futuro de la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5FF"/>
                </a:solidFill>
                <a:latin typeface="Segoe UI"/>
              </a:defRPr>
            </a:pPr>
            <a:r>
              <a:t>¿QUÉ ES LA INTELIGENCIA ARTIFICIAL?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▸ Rama de la informática que busca crear sistemas capaces de realizar tareas que normalmente requieren inteligencia humana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▸ Incluye capacidades como: aprendizaje, razonamiento, percepción, comprensión del lenguaje natural y creatividad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▸ Se divide en IA Débil (específica) e IA Fuerte (general): la primera realiza tareas concretas, la segunda igualaría la inteligencia humana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▸ Hoy vivimos en la era de la IA Débil especializada: asistentes virtuales, coches autónomos, diagnóstico médico, generación de contenido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CCCCCC"/>
                </a:solidFill>
                <a:latin typeface="Segoe UI"/>
              </a:defRPr>
            </a:pPr>
            <a:r>
              <a:t>▸ El objetivo final: una Inteligencia Artificial General (AGI) que pueda razonar, aprender y adaptarse a cualquier tarea intelectual humana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  <a:latin typeface="Segoe UI"/>
              </a:defRPr>
            </a:pPr>
            <a:r>
              <a:t>ALAN TURING (1912-1954)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5FF"/>
                </a:solidFill>
                <a:latin typeface="Segoe UI Light"/>
              </a:defRPr>
            </a:pPr>
            <a:r>
              <a:t>El padre de la computación y la inteligencia artificial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Matemático, criptógrafo y filósofo británico. Descifró el código Enigma en la Segunda Guerra Mundial.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En 1936 publicó "On Computable Numbers", donde introdujo el concepto de la Máquina de Turing, fundamento de la computación moderna.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En 1950 publicó "Computing Machinery and Intelligence", donde formuló la famosa pregunta: ¿Pueden las máquinas pensar?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Propuso el Test de Turing: si una máquina puede conversar sin ser distinguida de un humano, demuestra inteligencia.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Su trabajo sentó las bases teóricas de la IA décadas antes de que el término existiera. Un visionario adelantado a su tiempo.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3931920" cy="1371600"/>
          </a:xfrm>
          <a:prstGeom prst="roundRect">
            <a:avLst/>
          </a:prstGeom>
          <a:solidFill>
            <a:srgbClr val="1A1A3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FFD700"/>
                </a:solidFill>
                <a:latin typeface="Segoe UI"/>
              </a:defRPr>
            </a:pPr>
            <a:r>
              <a:t>"Solo podemos ver poco del futuro, pero lo suficiente para saber que hay mucho por hacer."</a:t>
            </a:r>
          </a:p>
          <a:p>
            <a:pPr algn="r">
              <a:defRPr sz="1100">
                <a:solidFill>
                  <a:srgbClr val="999999"/>
                </a:solidFill>
                <a:latin typeface="Segoe UI"/>
              </a:defRPr>
            </a:pPr>
            <a:r>
              <a:t>— Alan 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9B59B6"/>
                </a:solidFill>
                <a:latin typeface="Segoe UI"/>
              </a:defRPr>
            </a:pPr>
            <a:r>
              <a:t>JOHN McCARTHY (1927-2011)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5FF"/>
                </a:solidFill>
                <a:latin typeface="Segoe UI Light"/>
              </a:defRPr>
            </a:pPr>
            <a:r>
              <a:t>El hombre que acuñó el término 'Inteligencia Artificial'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Informático y científico cognitivo estadounidense. Ganador del Premio Turing en 1971.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En 1956 acuñó el término "Inteligencia Artificial" para la Conferencia de Dartmouth, que organizó junto a Minsky, Shannon y Rochester.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Inventó el lenguaje de programación LISP en 1958, el lenguaje estándar de la IA durante décadas y base del procesamiento simbólico.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Pionero en el concepto de "time-sharing" (tiempo compartido) en computación, permitiendo que múltiples usuarios usaran una misma máquina.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Fundó el Stanford AI Laboratory (SAIL) en 1963 y el MIT AI Lab, dos de los centros de investigación en IA más importantes del mundo.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Propuso el "Advice Taker", uno de los primeros diseños de un sistema de IA completo, que influenció toda la IA simbólica posterior.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3931920" cy="1371600"/>
          </a:xfrm>
          <a:prstGeom prst="roundRect">
            <a:avLst/>
          </a:prstGeom>
          <a:solidFill>
            <a:srgbClr val="1A1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9B59B6"/>
                </a:solidFill>
                <a:latin typeface="Segoe UI"/>
              </a:defRPr>
            </a:pPr>
            <a:r>
              <a:t>"El estudio de la IA es hacer que las máquinas se comporten de formas que serían llamadas inteligentes si un humano lo hiciera."</a:t>
            </a:r>
          </a:p>
          <a:p>
            <a:pPr algn="r">
              <a:defRPr sz="1100">
                <a:solidFill>
                  <a:srgbClr val="999999"/>
                </a:solidFill>
                <a:latin typeface="Segoe UI"/>
              </a:defRPr>
            </a:pPr>
            <a:r>
              <a:t>— John McCarthy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6B6B"/>
                </a:solidFill>
                <a:latin typeface="Segoe UI"/>
              </a:defRPr>
            </a:pPr>
            <a:r>
              <a:t>MARVIN MINSKY (1927-2016)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5FF"/>
                </a:solidFill>
                <a:latin typeface="Segoe UI Light"/>
              </a:defRPr>
            </a:pPr>
            <a:r>
              <a:t>Pionero de las redes neuronales y la ciencia cognitiva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Científico cognitivo, informático y filósofo estadounidense. Cofundador del MIT AI Lab y del MIT Media Lab.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En 1951 construyó SNARC, la primera máquina de aprendizaje basada en redes neuronales artificiales (con 40 sinapsis simuladas).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Co-organizó la Conferencia de Dartmouth de 1956 y fue una figura central en el desarrollo temprano de la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Autor de "Perceptrons" (1969) con Seymour Papert, que analizó las limitaciones de las redes neuronales de una capa, influyendo en el primer invierno de la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Ganador del Premio Turing en 1969. También escribió "The Society of Mind" (1986), proponiendo que la mente es una sociedad de agentes simples.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Trabajó en robótica, visión artificial, procesamiento del lenguaje natural y representación del conocimiento. Un verdadero polímata de la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3931920" cy="1371600"/>
          </a:xfrm>
          <a:prstGeom prst="roundRect">
            <a:avLst/>
          </a:prstGeom>
          <a:solidFill>
            <a:srgbClr val="1A1A3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FF6B6B"/>
                </a:solidFill>
                <a:latin typeface="Segoe UI"/>
              </a:defRPr>
            </a:pPr>
            <a:r>
              <a:t>"La pregunta no es si las máquinas piensan, sino si los hombres lo hacen."</a:t>
            </a:r>
          </a:p>
          <a:p>
            <a:pPr algn="r">
              <a:defRPr sz="1100">
                <a:solidFill>
                  <a:srgbClr val="999999"/>
                </a:solidFill>
                <a:latin typeface="Segoe UI"/>
              </a:defRPr>
            </a:pPr>
            <a:r>
              <a:t>— Marvin Minsky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9FF14"/>
                </a:solidFill>
                <a:latin typeface="Segoe UI"/>
              </a:defRPr>
            </a:pPr>
            <a:r>
              <a:t>OTROS PRECURSORES FUNDAMENTALES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  <a:latin typeface="Segoe UI"/>
              </a:defRPr>
            </a:pPr>
            <a:r>
              <a:t>Claude Shannon (1916-2001)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Padre de la teoría de la información. En 1950 creó "Theseus", un ratón mecánico que aprendía a resolver laberintos. Su trabajo matemático sobre la información digital es la base de toda la computación moderna.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  <a:latin typeface="Segoe UI"/>
              </a:defRPr>
            </a:pPr>
            <a:r>
              <a:t>Herbert Simon (1916-2001)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Economista y politólogo, ganador del Nobel de Economía (1978). Junto a Allen Newell creó Logic Theorist (1955), considerado el primer programa de IA. Acuñó el concepto de 'racionalidad limitada'.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  <a:latin typeface="Segoe UI"/>
              </a:defRPr>
            </a:pPr>
            <a:r>
              <a:t>Allen Newell (1927-1992)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Junto a Simon desarrolló Logic Theorist y GPS (General Problem Solver). Creó SOAR, una arquitectura cognitiva unificada. Ganador del Premio Turing (1975). Fundamental en IA simbólica.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Segoe UI"/>
              </a:defRPr>
            </a:pPr>
            <a:r>
              <a:t>Frank Rosenblatt (1928-1971)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Creó el Perceptrón en 1957, la primera red neuronal artificial implementada en hardware (Mark I Perceptron). Su trabajo fue redescubierto décadas después como base del deep learning moderno.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  <a:latin typeface="Segoe UI"/>
              </a:defRPr>
            </a:pPr>
            <a:r>
              <a:t>Norbert Wiener (1894-1964)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06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Fundador de la cibernética, el estudio del control y comunicación en máquinas y seres vivos. Su libro 'Cybernetics' (1948) influyó profundamente en la IA, la robótica y la automatización.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  <a:latin typeface="Segoe UI"/>
              </a:defRPr>
            </a:pPr>
            <a:r>
              <a:t>CONFERENCIA DE DARTMOUTH 1956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 Light"/>
              </a:defRPr>
            </a:pPr>
            <a:r>
              <a:t>El nacimiento oficial de la Inteligencia Artificial como campo científico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Celebrada en el Dartmouth College (New Hampshire, EE.UU.) durante el verano de 1956, organizada por John McCarthy.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Participantes: John McCarthy, Marvin Minsky, Claude Shannon, Nathaniel Rochester, Herbert Simon, Allen Newell, entre otros.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Propusieron: 'Todo aspecto del aprendizaje o cualquier otra característica de la inteligencia puede ser descrito con tal precisión que puede construirse una máquina para simularlo'.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Aquí se acuñó oficialmente el término 'Inteligencia Artificial' y se establecieron las bases del campo para las siguientes décadas.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Se propusieron temas clave: redes neuronales, creatividad computacional, procesamiento del lenguaje natural y razonamiento abstracto.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Aunque los resultados concretos fueron modestos, la conferencia creó la comunidad científica que impulsaría la IA durante 70 años.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486400"/>
            <a:ext cx="9418320" cy="91440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D700"/>
                </a:solidFill>
                <a:latin typeface="Segoe UI"/>
              </a:defRPr>
            </a:pPr>
            <a:r>
              <a:t>🎯  1956: Año oficial del nacimiento de la IA. La conferencia duró 8 semanas y contó con solo 10 participantes, pero cambió el mundo para siempre.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5FF"/>
                </a:solidFill>
                <a:latin typeface="Segoe UI"/>
              </a:defRPr>
            </a:pPr>
            <a:r>
              <a:t>1950s-1960s: PRIMEROS PASOS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914400" cy="3657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Segoe UI"/>
              </a:defRPr>
            </a:pPr>
            <a:r>
              <a:t>SNARC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5448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Marvin Minsky construye la primera red neuronal artificial con hardware. Simulaba el comportamiento de una rata en un laberinto usando 40 'sinapsis'.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9144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D700"/>
                </a:solidFill>
                <a:latin typeface="Segoe UI"/>
              </a:defRPr>
            </a:pPr>
            <a:r>
              <a:t>Logic Theorist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3172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Newell y Simon crean el primer programa de IA. Demostró 38 de los primeros 52 teoremas de Principia Mathematica, incluso encontrando una prueba más elegante.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91440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B59B6"/>
                </a:solidFill>
                <a:latin typeface="Segoe UI"/>
              </a:defRPr>
            </a:pPr>
            <a:r>
              <a:t>LISP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0896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John McCarthy inventa LISP, el lenguaje de programación estándar de la IA durante décadas. Introdujo árboles, recolección de basura y procesamiento simbólico.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914400" cy="3657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86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6B6B"/>
                </a:solidFill>
                <a:latin typeface="Segoe UI"/>
              </a:defRPr>
            </a:pPr>
            <a:r>
              <a:t>Unimate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88620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Primer robot industrial instalado en General Motors. Marcó el inicio de la robótica industrial, manejando piezas de metal caliente.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914400" cy="36576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9FF14"/>
                </a:solidFill>
                <a:latin typeface="Segoe UI"/>
              </a:defRPr>
            </a:pPr>
            <a:r>
              <a:t>ELIZA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66344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Joseph Weizenbaum crea ELIZA en el MIT, el primer chatbot. Simulaba un terapeuta rogeriano y sorprendió por su capacidad de mantener conversaciones.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680"/>
            <a:ext cx="914400" cy="3657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0D1A"/>
                </a:solidFill>
                <a:latin typeface="Segoe UI"/>
              </a:defRPr>
            </a:pPr>
            <a:r>
              <a:t>1969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Segoe UI"/>
              </a:defRPr>
            </a:pPr>
            <a:r>
              <a:t>Shakey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440680"/>
            <a:ext cx="7315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Segoe UI Light"/>
              </a:defRPr>
            </a:pPr>
            <a:r>
              <a:t>SRI International desarrolla Shakey, el primer robot móvil con capacidad de razonamiento. Podía navegar, planificar rutas y manipular objetos simples.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6B6B"/>
                </a:solidFill>
                <a:latin typeface="Segoe UI"/>
              </a:defRPr>
            </a:pPr>
            <a:r>
              <a:t>1970s: EL PRIMER INVIERNO DE LA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 Light"/>
              </a:defRPr>
            </a:pPr>
            <a:r>
              <a:t>Cuando las expectativas superaron a la realidad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Tras el optimismo inicial de los 60s, los avances en IA no cumplieron las expectativas desmesuradas generadas por los investigadores.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El informe Lighthill (1973) en Reino Unido concluyó que la IA no lograría sus objetivos 'grandiosos', provocando recortes masivos de financiación gubernamental.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DARPA (agencia militar de EE.UU.) también redujo drásticamente sus inversiones en investigación de IA básica.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El libro 'Perceptrons' de Minsky y Papert (1969) demostró limitaciones de las redes neuronales de una capa, frenando la investigación en conexionismo.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 pesar del invierno, surgieron avances importantes: PROLOG (1972) en Francia, el sistema experto MYCIN (1976) para diagnóstico médico.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Lección clave: la IA sufre ciclos de hype y decepción. El invierno purgó promesas exageradas pero sentó bases para enfoques más realistas.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9FF14"/>
                </a:solidFill>
                <a:latin typeface="Segoe UI"/>
              </a:defRPr>
            </a:pPr>
            <a:r>
              <a:t>1980s: SISTEMAS EXPERTOS Y RESURGIMIENTO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Los Sistemas Expertos basados en reglas (if-then) se convirtieron en la primera aplicación comercialmente exitosa de la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XCON/R1 (1980): desarrollado por DEC para configurar pedidos de computadoras. Ahorró $40 millones anuales y demostró el ROI de la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MYCIN y DENDRAL: sistemas expertos para diagnóstico médico y análisis químico. Superaban a expertos humanos en sus dominios específicos.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Japón lanza el proyecto 'Fifth Generation' (1982): ambiciosa iniciativa de 10 años para crear computadoras con IA, inspirada en PROLOG.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Resurge el interés en redes neuronales: John Hopfield (1982) publica su modelo de red neuronal recurrente, revitalizando el conexionismo.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El algoritmo de backpropagation se populariza (Rumelhart, Hinton, Williams, 1986), permitiendo entrenar redes neuronales multicapa eficientemente.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Segundo 'boom' de la IA: inversión corporativa masiva en sistemas expertos. Para 1988, el mercado de IA alcanzó miles de millones de dólares.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  <a:latin typeface="Segoe UI"/>
              </a:defRPr>
            </a:pPr>
            <a:r>
              <a:t>1990s: DEEP BLUE Y LA IA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1997: Deep Blue de IBM derrota al campeón mundial de ajedrez Garry Kasparov. Hito simbólico que demostró que las máquinas podían vencer a los mejores humanos en tareas intelectuales.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Segundo invierno de la IA (finales 80s-principios 90s): los sistemas expertos resultaron difíciles de mantener y escalar. Nueva ola de recortes.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La IA se vuelve 'invisible': algoritmos de IA se integran en productos cotidianos (motores de búsqueda, sistemas de recomendación, logística).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1995: Richard Wallace crea A.L.I.C.E., chatbot ganador del Premio Loebner, basado en pattern matching con AIML.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1998: Yann LeCun publica LeNet-5, red neuronal convolucional para reconocimiento de dígitos manuscritos. Precursor del deep learning moderno.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1999: Sony lanza AIBO, el perro robot con IA. Primera mascota robótica comercial con capacidades de aprendizaje y personalidad.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9B59B6"/>
                </a:solidFill>
                <a:latin typeface="Segoe UI"/>
              </a:defRPr>
            </a:pPr>
            <a:r>
              <a:t>2000s: BIG DATA Y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La explosión de internet generó cantidades masivas de datos ('Big Data'), el combustible perfecto para los algoritmos de aprendizaje automático.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Google se convierte en la empresa líder en IA aplicada: PageRank, Google Translate (2006), sistemas de recomendación y búsqueda semántica.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2006: Geoffrey Hinton acuña el término 'Deep Learning' y publica un artículo fundamental sobre entrenamiento de redes neuronales profundas usando pre-entrenamiento capa por capa.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2007: Fei-Fei Li inicia ImageNet, base de datos de 14 millones de imágenes etiquetadas que impulsaría la revolución del computer vision.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Amazon Web Services (AWS) democratiza el acceso a computación masiva, permitiendo a startups entrenar modelos de ML sin infraestructura propia.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2009: comienza la competición anual ImageNet (ILSVRC), que catalizaría avances en visión artificial durante la siguiente década.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El Machine Learning pasa de ser una curiosidad académica a una herramienta empresarial esencial: detección de fraude, recomendaciones, predicción de demanda.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E5FF"/>
                </a:solidFill>
                <a:latin typeface="Segoe UI"/>
              </a:defRPr>
            </a:pPr>
            <a:r>
              <a:t>2010s: LA REVOLUCIÓN DEL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2012: AlexNet (Alex Krizhevsky, Ilya Sutskever, Geoffrey Hinton) gana ImageNet por un margen histórico usando GPUs. El momento 'Big Bang' del deep learning.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Las GPUs de NVIDIA se convierten en el hardware estándar para entrenar redes neuronales profundas, acelerando el entrenamiento 100x.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2014: Ian Goodfellow inventa las GANs (Generative Adversarial Networks). Dos redes compitiendo entre sí revolucionan la generación de imágenes realistas.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2014: DeepMind (adquirida por Google) presenta redes neuronales que aprenden a jugar videojuegos de Atari desde cero, solo viendo los píxeles.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2016: AlphaGo de DeepMind derrota a Lee Sedol, campeón mundial de Go. Un hito considerado 10 años antes de lo previsto por los expertos.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2017: Google presenta Transformers ('Attention Is All You Need'), la arquitectura que cambiaría para siempre el NLP y habilitaría los LLMs modernos.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2018: OpenAI lanza GPT-1, BERT de Google revoluciona el NLP. Comienza la era de los modelos de lenguaje pre-entrenados a gran escala.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9FF14"/>
                </a:solidFill>
                <a:latin typeface="Segoe UI"/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 Light"/>
              </a:defRPr>
            </a:pPr>
            <a:r>
              <a:t>Liderando la carrera hacia la 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Fundada en 2015 por Sam Altman, Elon Musk, Ilya Sutskever, Greg Brockman y otros como organización sin ánimo de lucro.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Misión: 'Asegurar que la inteligencia artificial general beneficie a toda la humanidad'.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2022: Lanzan ChatGPT, alcanzando 100 millones de usuarios en 2 meses — el crecimiento más rápido de la historia.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GPT-4 (2023): modelo multimodal capaz de procesar texto e imágenes, superando el percentil 90 en exámenes como el BAR.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Desarrollos: DALL·E (generación de imágenes), Codex (programación), Whisper (reconocimiento de voz), Sora (video).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Estructura: OpenAI LP (limited profit) bajo OpenAI Inc. (non-profit). Microsoft es el principal inversor con $13B+.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Valoración estimada: $157 mil millones (2025). Sede en San Francisco, California.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👤 CEO: SAM ALTMAN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1985, Chicago). Emprendedor e inversor. Ex-presidente de Y Combinator (2014-2019). Co-fundador de Loopt y Worldcoin. Considerado una de las 100 personas más influyentes del mundo por Time (2023). Visionario que aboga por una AGI segura y regulada.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GOOGLE DEEPMIND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Segoe UI Light"/>
              </a:defRPr>
            </a:pPr>
            <a:r>
              <a:t>Resolviendo la inteligencia para avanzar la ciencia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Fundada en 2010 en Londres por Demis Hassabis, Shane Legg y Mustafa Suleyman. Adquirida por Google en 2014 por $500+ millones.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AlphaGo (2016): derrotó a Lee Sedol en Go. AlphaZero (2017): aprendió ajedrez, Go y shogi desde cero en horas, superando a todos los programas previos.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AlphaFold (2020): resolvió el problema del plegamiento de proteínas, un desafío de 50 años en biología. Reconocido como uno de los mayores avances científicos del siglo.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Gemini (2023/2024): modelo multimodal nativo que compite directamente con GPT-4, integrado en productos Google (Bard/Gemini, Search, Workspace).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Investigación en IA general, robótica, salud (diagnóstico de cáncer de mama y enfermedades oculares), cambio climático y fusión nuclear.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Google AI integra DeepMind y Google Brain (2023) bajo una sola división, consolidando su apuesta por ser líder en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👤 CEO: DEMIS HASSABIS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1976, Londres). Niño prodigio del ajedrez (Maestro a los 13). Neurocientífico por UCL y PhD en neurociencia cognitiva. Diseñador de videojuegos (Theme Park, Black &amp; White). Fundó DeepMind con la misión de 'resolver la inteligencia'. Nombrado Sir en 2024 por servicios a la IA. Premio Nobel de Química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META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Segoe UI Light"/>
              </a:defRPr>
            </a:pPr>
            <a:r>
              <a:t>Open source y el metaverso impulsado por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Meta (anteriormente Facebook) creó FAIR (Facebook AI Research) en 2013, liderado por Yann LeCun, uno de los 'padrinos' del deep learning.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Llama (Large Language Model Meta AI): familia de modelos open source. Llama 3 (2024) compite con GPT-4 y Gemini, disponible gratuitamente para investigación.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Filosofía open source: Meta apuesta por democratizar la IA liberando modelos, pesos y herramientas. Esto acelera la innovación global.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Investigación puntera en: NLP, visión artificial, robótica, traducción automática (No Language Left Behind), generación de código y vídeo.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Integración en productos: Facebook, Instagram (filtros IA, recomendaciones), WhatsApp (asistente Meta AI), Ray-Ban Meta smart glasses.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Inversión masiva en infraestructura: clusters con cientos de miles de GPUs NVIDIA H100 para entrenar la próxima generación de modelos.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👤 CEO: MARK ZUCKERBERG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1984, Nueva York). Fundó Facebook en 2004 en Harvard. Visionario que transformó Meta hacia la IA y el metaverso. Defensor del open source en IA. Patrimonio neto: $200B+. Lidera personalmente la estrategia de IA de Meta, integrando Llama en todas las plataformas de la compañía.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MICROSOFT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Segoe UI Light"/>
              </a:defRPr>
            </a:pPr>
            <a:r>
              <a:t>El gigante que apostó por OpenAI y la IA integrada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Microsoft ha invertido más de $13 mil millones en OpenAI, asegurando acceso exclusivo a GPT-4 y modelos futuros para sus productos.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Copilot: asistente de IA integrado en Windows, Office 365 (Word, Excel, PowerPoint, Teams), GitHub (Copilot para código) y Edge.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Azure AI: plataforma cloud para entrenar y desplegar modelos de IA a escala empresarial. Infraestructura con GPUs NVIDIA y chips propios (Maia).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Estrategia 'AI-first': 'Copilot en todo'. Cada producto Microsoft está siendo rediseñado con IA generativa integrada.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Phi: familia de modelos pequeños y eficientes (SLMs) desarrollados por Microsoft Research que compiten en rendimiento con modelos mucho mayores.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Investigación en: IA responsable, razonamiento, agentes autónomos, salud con IA, sostenibilidad y computación cuántica.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👤 CEO: SATYA NADELLA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1967, Hyderabad, India). Ingeniero eléctrico y MBA. Tercer CEO de Microsoft (desde 2014). Transformó la empresa hacia cloud (Azure) e IA. Visionario que apostó temprano por OpenAI. Bajo su liderazgo, Microsoft superó los $3 billones de capitalización bursátil.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 Light"/>
              </a:defRPr>
            </a:pPr>
            <a:r>
              <a:t>Seguridad en la IA como prioridad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Fundada en 2021 por Dario Amodei y Daniela Amodei, ex-ejecutivos de OpenAI que abandonaron por diferencias en el enfoque de seguridad.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Claude: familia de modelos de lenguaje (Claude 3.5 Sonnet, Opus, Haiku). Enfocados en ser 'helpful, honest, and harmless'.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Constitutional AI: método propio de entrenamiento donde el modelo se alinea con una 'constitución' de principios éticos, no solo con preferencias humanas.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Enfoque en seguridad: investigación puntera en interpretabilidad mecanicista (entender cómo 'piensan' los modelos) y alineamiento de la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Inversores: Google ($2B+), Amazon ($4B), Salesforce, Zoom. Valoración estimada: $60+ mil millones (2025).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Considerados el principal competidor de OpenAI, con un enfoque diferencial en la seguridad y la investigación fundamental.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👤 CEO: DARIO AMODEI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1983). PhD en Física por Princeton. Investigador postdoc en Stanford. Ex-VP de Investigación en OpenAI (2016-2020). Neurocientífico computacional de formación. Considerado una de las voces más autorizadas en seguridad de IA. Cree que la AGI llegará en esta década.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9FF14"/>
                </a:solidFill>
                <a:latin typeface="Segoe UI"/>
              </a:defRPr>
            </a:pPr>
            <a:r>
              <a:t>NVIDIA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Segoe UI Light"/>
              </a:defRPr>
            </a:pPr>
            <a:r>
              <a:t>El hardware que hace posible la revolución de la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NVIDIA ha pasado de ser una empresa de videojuegos a convertirse en la empresa más valiosa del mundo ($3T+) gracias a sus GPUs para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Las GPUs NVIDIA (A100, H100, B200 Blackwell) son el estándar de facto para entrenar modelos de IA. El 80%+ del mercado de chips de IA.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CUDA: plataforma de computación paralela que permite a los desarrolladores programar GPUs. El 'foso competitivo' de NVIDIA con +4M de desarrolladores.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Todos los grandes modelos (GPT-4, Gemini, Llama, Claude) se entrenan en clusters con decenas de miles de GPUs NVIDIA H100.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DGX SuperPOD: supercomputadores de IA llave en mano. NVIDIA vende infraestructura completa (hardware + software + networking).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Inversión en robótica (Jetson, Isaac), coches autónomos (DRIVE), salud (Clara), omniverse (gemelos digitales) y computación cuántica.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👤 CEO: JENSEN HUANG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1963, Taiwán). Ingeniero eléctrico por Stanford. Co-fundó NVIDIA en 1993. Visionario que apostó por las GPUs para IA en 2006 con CUDA. Ícono cultural (chaqueta de cuero negra). Bajo su liderazgo, NVIDIA creció de $10B a $3T. Una de las personas más ricas del mundo.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  <a:latin typeface="Segoe UI"/>
              </a:defRPr>
            </a:pPr>
            <a:r>
              <a:t>TESLA AI &amp;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 Light"/>
              </a:defRPr>
            </a:pPr>
            <a:r>
              <a:t>El visionario controvertido: coches autónomos y búsqueda de la verdad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Tesla AI: desarrolla el sistema Full Self-Driving (FSD) con redes neuronales entrenadas con datos de millones de vehículos reales.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Dojo: supercomputador propio de Tesla para entrenamiento de IA de conducción autónoma usando chips diseñados internamente.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Optimus: robot humanoide de Tesla impulsado por la misma IA de FSD. Diseñado para tareas repetitivas en fábricas y hogares.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xAI: fundada por Elon Musk en 2023. Misión: 'entender la verdadera naturaleza del universo'. Desarrolla Grok, asistente integrado en X (Twitter).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Grok: modelo de IA con 'personalidad' y sentido del humor. Acceso en tiempo real a X. Enfoque en razonamiento y búsqueda de la verdad.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Musk fue co-fundador de OpenAI (2015) y la abandonó en 2018. Crítico de la dirección actual de OpenAI, aboga por IA de código abierto.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👤 CEO: ELON MUSK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1971, Pretoria, Sudáfrica). Fundador de Tesla, SpaceX, xAI, Neuralink y The Boring Company. Co-fundó OpenAI en 2015. El hombre más rico del mundo ($300B+). Visionario polarizante pero innegablemente influyente en la IA moderna.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APPLE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Segoe UI Light"/>
              </a:defRPr>
            </a:pPr>
            <a:r>
              <a:t>Privacidad y la IA en el ecosistema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Apple Intelligence (anunciada en WWDC 2024): integración de IA generativa en iPhone, iPad y Mac con procesamiento on-device como prioridad.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Private Cloud Compute: servidores Apple Silicon que extienden la capacidad de IA garantizando privacidad. Los datos no se almacenan ni se usan para entrenar.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Siri renovada: comprensión contextual avanzada, acciones entre apps, conciencia en pantalla y capacidad de delegar a ChatGPT.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Modelos fundacionales propios: Apple desarrolla modelos de IA optimizados para ejecutarse en dispositivos móviles con Neural Engine.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Filosofía: la IA debe ser personal, privada y útil. Procesamiento en el dispositivo como diferencial competitivo frente a Google y Microsoft.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Investigación en: ML eficiente, visión artificial, NLP on-device, salud digital (Apple Watch), realidad aumentada y Spatial Computing.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  <a:latin typeface="Segoe UI"/>
              </a:defRPr>
            </a:pPr>
            <a:r>
              <a:t>👤 CEO: TIM COOK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1960, Alabama, EE.UU.). MBA por Duke. CEO de Apple desde 2011, sucediendo a Steve Jobs. Experto en cadena de suministro. Bajo su liderazgo, Apple alcanzó $3T de valoración. Enfoque en privacidad como derecho humano fundamental.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" cy="3200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  <a:latin typeface="Segoe UI"/>
              </a:defRPr>
            </a:pPr>
            <a:r>
              <a:t>AMAZON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FF"/>
                </a:solidFill>
                <a:latin typeface="Segoe UI Light"/>
              </a:defRPr>
            </a:pPr>
            <a:r>
              <a:t>Alexa, AWS y la IA a escala planetaria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AWS (Amazon Web Services): la plataforma cloud líder mundial ofrece servicios de IA/ML (SageMaker, Bedrock, Rekognition, Polly, Lex).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Alexa: asistente de voz presente en cientos de millones de dispositivos. En renovación con Alexa LLM para conversaciones naturales y proactivas.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Amazon Bedrock: servicio serverless para acceder a modelos fundacionales de Anthropic, Meta, Mistral, Stability AI y los propios de Amazon (Titan).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Inversión estratégica: $4 mil millones en Anthropic, desarrollo de chips propios (Trainium para entrenamiento, Inferentia para inferencia).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Aplicaciones internas: logística predictiva, recomendaciones (35% de ventas), centros de distribución robotizados, drones Prime Air, Amazon Go.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550">
                <a:solidFill>
                  <a:srgbClr val="CCCCCC"/>
                </a:solidFill>
                <a:latin typeface="Segoe UI"/>
              </a:defRPr>
            </a:pPr>
            <a:r>
              <a:t>Proyecto Kuiper: constelación de satélites para internet global, integrará IA para optimizar comunicaciones y cobertura.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46320"/>
            <a:ext cx="3931920" cy="164592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👤 CEO: ANDY JASSY</a:t>
            </a:r>
          </a:p>
          <a:p>
            <a:pPr>
              <a:defRPr sz="1100">
                <a:solidFill>
                  <a:srgbClr val="CCCCCC"/>
                </a:solidFill>
                <a:latin typeface="Segoe UI Light"/>
              </a:defRPr>
            </a:pPr>
            <a:r>
              <a:t>(n. 1968, Nueva York). MBA por Harvard. CEO de Amazon desde 2021, sucediendo a Jeff Bezos. Arquitecto de AWS, la división que genera la mayor parte de beneficios de Amazon. Enfoque en IA generativa aplicada a escala empresarial.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9B59B6"/>
                </a:solidFill>
                <a:latin typeface="Segoe UI"/>
              </a:defRPr>
            </a:pPr>
            <a:r>
              <a:t>OTRAS EMPRESAS CLAVE EN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377440" cy="3200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Hugging Face — Clement Delangue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La 'GitHub de la IA'. Plataforma colaborativa con cientos de miles de modelos open source. Hub central de la comunidad de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377440" cy="3200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Mistral AI — Arthur Mensch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Startup francesa que compite con modelos open source de alto rendimiento. Mistral Large compite con GPT-4. Valoración: $6B+.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377440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Stability AI — Prem Akkaraju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089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Creadores de Stable Diffusion, el modelo de generación de imágenes open source más popular del mundo.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237744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Cohere — Aidan Gomez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86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Enfocada en IA para empresas. Modelos de lenguaje optimizados para RAG, búsqueda y embeddings. Fundada por autores del paper Transformer.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2377440" cy="32004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Scale AI — Alexandr Wang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663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Plataforma de datos para entrenar IA. Provee datos etiquetados de alta calidad a OpenAI, Google, Meta y el Departamento de Defensa de EE.UU.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40680"/>
            <a:ext cx="2377440" cy="3200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1A"/>
                </a:solidFill>
                <a:latin typeface="Segoe UI"/>
              </a:defRPr>
            </a:pPr>
            <a:r>
              <a:t>Perplexity AI — Aravind Srinivas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4406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Segoe UI Light"/>
              </a:defRPr>
            </a:pPr>
            <a:r>
              <a:t>Buscador conversacional con IA que desafía a Google. Combina modelos de lenguaje con búsqueda en tiempo real. Valoración: $9B+.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  <a:latin typeface="Segoe UI"/>
              </a:defRPr>
            </a:pPr>
            <a:r>
              <a:t>LÍNEA DE TIEMPO DE LA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383280"/>
            <a:ext cx="100584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1950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Test de Turing</a:t>
            </a:r>
          </a:p>
        </p:txBody>
      </p:sp>
      <p:sp>
        <p:nvSpPr>
          <p:cNvPr id="11" name="Oval 10"/>
          <p:cNvSpPr/>
          <p:nvPr/>
        </p:nvSpPr>
        <p:spPr>
          <a:xfrm>
            <a:off x="1128772850400" y="3291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8772576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1956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772393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Conferencia Dartmouth</a:t>
            </a:r>
          </a:p>
        </p:txBody>
      </p:sp>
      <p:sp>
        <p:nvSpPr>
          <p:cNvPr id="14" name="Oval 13"/>
          <p:cNvSpPr/>
          <p:nvPr/>
        </p:nvSpPr>
        <p:spPr>
          <a:xfrm>
            <a:off x="2257544786400" y="3291840"/>
            <a:ext cx="137160" cy="1371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7544512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  <a:latin typeface="Segoe UI"/>
              </a:defRPr>
            </a:pPr>
            <a:r>
              <a:t>1958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544329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Lenguaje LISP</a:t>
            </a:r>
          </a:p>
        </p:txBody>
      </p:sp>
      <p:sp>
        <p:nvSpPr>
          <p:cNvPr id="17" name="Oval 16"/>
          <p:cNvSpPr/>
          <p:nvPr/>
        </p:nvSpPr>
        <p:spPr>
          <a:xfrm>
            <a:off x="3386316722400" y="3291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6316448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1966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6316265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Chatbot ELIZA</a:t>
            </a:r>
          </a:p>
        </p:txBody>
      </p:sp>
      <p:sp>
        <p:nvSpPr>
          <p:cNvPr id="20" name="Oval 19"/>
          <p:cNvSpPr/>
          <p:nvPr/>
        </p:nvSpPr>
        <p:spPr>
          <a:xfrm>
            <a:off x="4515088658400" y="3291840"/>
            <a:ext cx="137160" cy="13716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5088384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Segoe UI"/>
              </a:defRPr>
            </a:pPr>
            <a:r>
              <a:t>1973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5088201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Invierno IA</a:t>
            </a:r>
          </a:p>
        </p:txBody>
      </p:sp>
      <p:sp>
        <p:nvSpPr>
          <p:cNvPr id="23" name="Oval 22"/>
          <p:cNvSpPr/>
          <p:nvPr/>
        </p:nvSpPr>
        <p:spPr>
          <a:xfrm>
            <a:off x="5643860594400" y="3291840"/>
            <a:ext cx="137160" cy="1371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3860320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1980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3860137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Sistemas Expertos</a:t>
            </a:r>
          </a:p>
        </p:txBody>
      </p:sp>
      <p:sp>
        <p:nvSpPr>
          <p:cNvPr id="26" name="Oval 25"/>
          <p:cNvSpPr/>
          <p:nvPr/>
        </p:nvSpPr>
        <p:spPr>
          <a:xfrm>
            <a:off x="6772632530400" y="3291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2632256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1986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632073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Backpropagation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901404466400" y="3291840"/>
            <a:ext cx="137160" cy="1371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1404192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  <a:latin typeface="Segoe UI"/>
              </a:defRPr>
            </a:pPr>
            <a:r>
              <a:t>1997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1404009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Deep Blue vence a Kasparov</a:t>
            </a:r>
          </a:p>
        </p:txBody>
      </p:sp>
      <p:sp>
        <p:nvSpPr>
          <p:cNvPr id="32" name="Oval 31"/>
          <p:cNvSpPr/>
          <p:nvPr/>
        </p:nvSpPr>
        <p:spPr>
          <a:xfrm>
            <a:off x="9030176402400" y="3291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0176128080" y="24688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2006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0175945200" y="278892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Deep Learning (Hinton)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Segoe UI"/>
              </a:defRPr>
            </a:pPr>
            <a:r>
              <a:t>2011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Siri / Watson</a:t>
            </a:r>
          </a:p>
        </p:txBody>
      </p:sp>
      <p:sp>
        <p:nvSpPr>
          <p:cNvPr id="38" name="Oval 37"/>
          <p:cNvSpPr/>
          <p:nvPr/>
        </p:nvSpPr>
        <p:spPr>
          <a:xfrm>
            <a:off x="1128772850400" y="3291840"/>
            <a:ext cx="137160" cy="1371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8772576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2012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8772393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AlexNet (Big Bang DL)</a:t>
            </a:r>
          </a:p>
        </p:txBody>
      </p:sp>
      <p:sp>
        <p:nvSpPr>
          <p:cNvPr id="41" name="Oval 40"/>
          <p:cNvSpPr/>
          <p:nvPr/>
        </p:nvSpPr>
        <p:spPr>
          <a:xfrm>
            <a:off x="2257544786400" y="3291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57544512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2014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57544329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GANs / DeepMind</a:t>
            </a:r>
          </a:p>
        </p:txBody>
      </p:sp>
      <p:sp>
        <p:nvSpPr>
          <p:cNvPr id="44" name="Oval 43"/>
          <p:cNvSpPr/>
          <p:nvPr/>
        </p:nvSpPr>
        <p:spPr>
          <a:xfrm>
            <a:off x="3386316722400" y="3291840"/>
            <a:ext cx="137160" cy="1371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6316448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  <a:latin typeface="Segoe UI"/>
              </a:defRPr>
            </a:pPr>
            <a:r>
              <a:t>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6316265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AlphaGo vence a Lee Sedol</a:t>
            </a:r>
          </a:p>
        </p:txBody>
      </p:sp>
      <p:sp>
        <p:nvSpPr>
          <p:cNvPr id="47" name="Oval 46"/>
          <p:cNvSpPr/>
          <p:nvPr/>
        </p:nvSpPr>
        <p:spPr>
          <a:xfrm>
            <a:off x="4515088658400" y="3291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5088384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2017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5088201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Transformers</a:t>
            </a:r>
          </a:p>
        </p:txBody>
      </p:sp>
      <p:sp>
        <p:nvSpPr>
          <p:cNvPr id="50" name="Oval 49"/>
          <p:cNvSpPr/>
          <p:nvPr/>
        </p:nvSpPr>
        <p:spPr>
          <a:xfrm>
            <a:off x="5643860594400" y="3291840"/>
            <a:ext cx="137160" cy="13716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43860320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Segoe UI"/>
              </a:defRPr>
            </a:pPr>
            <a:r>
              <a:t>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43860137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GPT-3 / AlphaFold</a:t>
            </a:r>
          </a:p>
        </p:txBody>
      </p:sp>
      <p:sp>
        <p:nvSpPr>
          <p:cNvPr id="53" name="Oval 52"/>
          <p:cNvSpPr/>
          <p:nvPr/>
        </p:nvSpPr>
        <p:spPr>
          <a:xfrm>
            <a:off x="6772632530400" y="3291840"/>
            <a:ext cx="137160" cy="1371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72632256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72632073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ChatGPT (100M usuarios)</a:t>
            </a:r>
          </a:p>
        </p:txBody>
      </p:sp>
      <p:sp>
        <p:nvSpPr>
          <p:cNvPr id="56" name="Oval 55"/>
          <p:cNvSpPr/>
          <p:nvPr/>
        </p:nvSpPr>
        <p:spPr>
          <a:xfrm>
            <a:off x="7901404466400" y="3291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1404192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1404009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GPT-4o, Gemini, Claude 3.5</a:t>
            </a:r>
          </a:p>
        </p:txBody>
      </p:sp>
      <p:sp>
        <p:nvSpPr>
          <p:cNvPr id="59" name="Oval 58"/>
          <p:cNvSpPr/>
          <p:nvPr/>
        </p:nvSpPr>
        <p:spPr>
          <a:xfrm>
            <a:off x="9030176402400" y="3291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30176128080" y="4114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2025+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0175945200" y="4434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  <a:latin typeface="Segoe UI Light"/>
              </a:defRPr>
            </a:pPr>
            <a:r>
              <a:t>¿AGI?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9FF14"/>
                </a:solidFill>
                <a:latin typeface="Segoe UI"/>
              </a:defRPr>
            </a:pPr>
            <a:r>
              <a:t>EL FUTURO DE LA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🤖  AGI (Inteligencia Artificial General): predicciones de líderes como Sam Altman y Demis Hassabis apuntan a esta década. Un sistema capaz de realizar cualquier tarea intelectual humana.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🧠  Neurociencia + IA: interfaces cerebro-computadora (Neuralink), comprensión de la conciencia y modelado del cerebro humano.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🏥  Revolución en salud: diagnóstico temprano, descubrimiento de fármacos asistido por IA, medicina personalizada y longevidad extendida.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🌍  Cambio climático: optimización de redes energéticas, captura de carbono, fusión nuclear acelerada por IA y predicción de desastres naturales.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🎓  Educación personalizada: tutores de IA adaptados al ritmo y estilo de aprendizaje de cada estudiante, democratizando la educación global.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⚠️  Desafíos: desempleo tecnológico, desinformación generada por IA, sesgos algorítmicos, privacidad, concentración de poder y el problema del alineamiento.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🔬  Descubrimiento científico: la IA como científico autónomo, generando hipótesis y diseñando experimentos. AlphaFold ya demostró este potencial.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669280"/>
            <a:ext cx="9418320" cy="822960"/>
          </a:xfrm>
          <a:prstGeom prst="roundRect">
            <a:avLst/>
          </a:prstGeom>
          <a:solidFill>
            <a:srgbClr val="0A2A0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39FF14"/>
                </a:solidFill>
                <a:latin typeface="Segoe UI"/>
              </a:defRPr>
            </a:pPr>
            <a:r>
              <a:t>🌟  El mayor desafío: asegurar que la IA beneficie a toda la humanidad, no solo a unos pocos. La gobernanza de la IA será el tema definitorio del siglo XXI.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819323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76523" y="274320"/>
            <a:ext cx="2819323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274320"/>
            <a:ext cx="2819323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169" y="274320"/>
            <a:ext cx="281932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La IA no nació de la noche a la mañana: es el resultado de 70+ años de investigación, fracasos y avances de miles de científicos.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Los precursores (Turing, McCarthy, Minsky, Shannon) sentaron las bases teóricas décadas antes de que la tecnología pudiera implementarlas.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Hemos pasado de sistemas basados en reglas a redes neuronales que aprenden de datos, acercándonos cada vez más a una inteligencia flexible.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Las grandes empresas actuales (OpenAI, Google DeepMind, Meta, Microsoft, Anthropic, NVIDIA) lideran una revolución sin precedentes.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Los CEOs actuales no son solo ejecutivos: son visionarios que moldean el futuro de la humanidad. Sus decisiones afectarán a miles de millones.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Estamos en un punto de inflexión histórico. La IA está transformando la ciencia, la economía, el arte y la sociedad a una velocidad exponencial.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La pregunta ya no es si las máquinas pueden pensar, sino cómo aseguramos que piensen en beneficio de todos.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760720"/>
            <a:ext cx="9418320" cy="731520"/>
          </a:xfrm>
          <a:prstGeom prst="roundRect">
            <a:avLst/>
          </a:prstGeom>
          <a:solidFill>
            <a:srgbClr val="1A1A3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FFD700"/>
                </a:solidFill>
                <a:latin typeface="Segoe UI"/>
              </a:defRPr>
            </a:pPr>
            <a:r>
              <a:t>"La inteligencia artificial es probablemente lo más importante que la humanidad haya inventado jamás. Pienso que es más profundo que el fuego o la electricidad." — Sundar Pichai, CEO de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"/>
            <a:ext cx="12191695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D700"/>
                </a:solidFill>
                <a:latin typeface="Segoe UI"/>
              </a:defRPr>
            </a:pPr>
            <a: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Segoe UI Light"/>
              </a:defRPr>
            </a:pPr>
            <a:r>
              <a:t>Historia de la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Segoe UI Light"/>
              </a:defRPr>
            </a:pPr>
            <a:r>
              <a:t>De los precursores a las grandes empresas del siglo XXI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99999"/>
                </a:solidFill>
                <a:latin typeface="Segoe UI Light"/>
              </a:defRPr>
            </a:pPr>
            <a:r>
              <a:t>Presentación generada por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E5FF"/>
                </a:solidFill>
                <a:latin typeface="Segoe UI"/>
              </a:defRPr>
            </a:pPr>
            <a:r>
              <a:t>JARVIS · Agente NEO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44"/>
                </a:solidFill>
                <a:latin typeface="Segoe UI Light"/>
              </a:defRPr>
            </a:pPr>
            <a:r>
              <a:t>Inteligencia Artificial al servicio de la humanidad ·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30568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Segoe UI"/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